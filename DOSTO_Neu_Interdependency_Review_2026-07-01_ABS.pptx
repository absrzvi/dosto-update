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67" r:id="rId3"/>
    <p:sldId id="268" r:id="rId4"/>
    <p:sldId id="269" r:id="rId5"/>
    <p:sldId id="276" r:id="rId6"/>
    <p:sldId id="272" r:id="rId7"/>
    <p:sldId id="273" r:id="rId8"/>
    <p:sldId id="274" r:id="rId9"/>
    <p:sldId id="27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69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F31B4E-97CC-2E1E-6B79-072203F4A9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52188" y="63500"/>
            <a:ext cx="1012825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400">
                <a:solidFill>
                  <a:srgbClr val="71BF44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0"/>
            <a:ext cx="0" cy="6858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096305" y="0"/>
            <a:ext cx="0" cy="6858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1333195"/>
            <a:ext cx="12191695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4203" y="254203"/>
            <a:ext cx="215798" cy="192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1721694" y="254203"/>
            <a:ext cx="215798" cy="192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54203" y="6622999"/>
            <a:ext cx="215798" cy="192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4203" y="6432804"/>
            <a:ext cx="19202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" y="1841602"/>
            <a:ext cx="10477195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&amp;</a:t>
            </a:r>
            <a:endParaRPr lang="en-US" sz="6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INTERDEPENDENCY</a:t>
            </a:r>
            <a:endParaRPr lang="en-US" sz="6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761695" y="5651094"/>
            <a:ext cx="101498" cy="101498"/>
          </a:xfrm>
          <a:prstGeom prst="ellipse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52805" y="5588000"/>
            <a:ext cx="7619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   /   ÖBB   /   Stadler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61695" y="6254496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1695" y="6349594"/>
            <a:ext cx="6349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RIZVI — NOMAD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40289" y="6330391"/>
            <a:ext cx="888797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540289" y="6330391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01.07.2026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303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TODAY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873606"/>
            <a:ext cx="95243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status, technical risks, and the process to close open items — together, on the record.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6305" y="2667305"/>
            <a:ext cx="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096305" y="2667305"/>
            <a:ext cx="0" cy="2540203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61695" y="2667305"/>
            <a:ext cx="4953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— PART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695" y="2984602"/>
            <a:ext cx="4953305" cy="190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Current project status</a:t>
            </a:r>
            <a:endParaRPr lang="en-US" sz="1700" dirty="0"/>
          </a:p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CCU stability — single traction</a:t>
            </a:r>
            <a:endParaRPr lang="en-US" sz="1700" dirty="0"/>
          </a:p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Multi-traction roadmap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6695" y="2667305"/>
            <a:ext cx="4953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— PART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6695" y="2984602"/>
            <a:ext cx="4953305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Release &amp; change management process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Remote SW updates &amp; notification process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Vehicle config transparency / SW-version visibility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Schedule, quality &amp; warranty impact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Agreement on next steps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1761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906015"/>
            <a:ext cx="10667390" cy="1116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en-US" sz="3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1695" y="1746504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DostoNeu Phase Plan Q2 2026 — status as of 01 July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695" y="2095805"/>
            <a:ext cx="5333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NOMAD-OWNED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1695" y="2324405"/>
            <a:ext cx="5333695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61695" y="2400300"/>
          <a:ext cx="5333696" cy="1958642"/>
        </p:xfrm>
        <a:graphic>
          <a:graphicData uri="http://schemas.openxmlformats.org/drawingml/2006/table">
            <a:tbl>
              <a:tblPr/>
              <a:tblGrid>
                <a:gridCol w="3556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 Rollout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KW19–24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Portal: fleet rollout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KW22–30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Portal: backend check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KW24–28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notes — sign-off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KW19–26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migration to MAR5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EMEAE-5395, at-risk KW25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v9 for fleet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TRIAG-8521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VDS Firmware 7.4.8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HWI-257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49594" y="2095805"/>
            <a:ext cx="0" cy="2349094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730898" y="2095805"/>
            <a:ext cx="4699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ÖBB / STADLER-OWNED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30898" y="2324405"/>
            <a:ext cx="4699102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6730898" y="2400300"/>
          <a:ext cx="4699101" cy="2227478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freeze (Application layer)  </a:t>
                      </a:r>
                      <a:r>
                        <a:rPr lang="en-US" sz="900" dirty="0">
                          <a:solidFill>
                            <a:srgbClr val="FF3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due 16 Jun — 15 days overdue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ÖBB — PM-06 Functional Test Report 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ÖBB — PM-07 Ready-for-Service 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ÖBB — PM-08 Kapazitätsplan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blocks PM-12 fleet acceptance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Phase 4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owner: Stadler — confirm portal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Nomad technical description — review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 &amp; Stadler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61695" y="5333695"/>
            <a:ext cx="10667390" cy="584302"/>
          </a:xfrm>
          <a:prstGeom prst="rect">
            <a:avLst/>
          </a:prstGeom>
          <a:solidFill>
            <a:srgbClr val="FDF3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61695" y="5333695"/>
            <a:ext cx="51206" cy="584302"/>
          </a:xfrm>
          <a:prstGeom prst="rect">
            <a:avLst/>
          </a:prstGeom>
          <a:solidFill>
            <a:srgbClr val="B879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983894" y="5447995"/>
            <a:ext cx="1022299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this plan at all: 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multi-traction / v9 remediation (RSTP fix, native-VLAN containment)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0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5D7EBE53-4092-0F13-ADA4-78AE7E3C1073}"/>
              </a:ext>
            </a:extLst>
          </p:cNvPr>
          <p:cNvSpPr/>
          <p:nvPr/>
        </p:nvSpPr>
        <p:spPr>
          <a:xfrm>
            <a:off x="761695" y="4590889"/>
            <a:ext cx="10667390" cy="476402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D6282234-6ABB-5250-CC1B-1E14D2A87707}"/>
              </a:ext>
            </a:extLst>
          </p:cNvPr>
          <p:cNvSpPr/>
          <p:nvPr/>
        </p:nvSpPr>
        <p:spPr>
          <a:xfrm>
            <a:off x="761695" y="4590889"/>
            <a:ext cx="51206" cy="4764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FD0FC5D-6FDB-4BBA-485C-19D354C23F9E}"/>
              </a:ext>
            </a:extLst>
          </p:cNvPr>
          <p:cNvSpPr/>
          <p:nvPr/>
        </p:nvSpPr>
        <p:spPr>
          <a:xfrm>
            <a:off x="965606" y="4705189"/>
            <a:ext cx="1028700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Commissioning done a long time ago. Normalizing fleet and aligning configuration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6880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CCU </a:t>
            </a:r>
            <a:r>
              <a:rPr lang="en-US" sz="3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STABILITY — SINGLE TRACTION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809598"/>
            <a:ext cx="1066739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— MODEM / SIM INSTABILITY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1695" y="2031797"/>
            <a:ext cx="10667390" cy="1397203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61695" y="2031797"/>
            <a:ext cx="51206" cy="1397203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83894" y="2146096"/>
            <a:ext cx="10222992" cy="1103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 hardware fault on modem carrier blades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HW Replacement ongoing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 stay in “Registered” status after reboot – Watcher script implement to reboot modem + </a:t>
            </a:r>
            <a:r>
              <a:rPr lang="en-US" sz="135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Permenant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 in NC 2026.2 release.</a:t>
            </a:r>
          </a:p>
        </p:txBody>
      </p:sp>
      <p:sp>
        <p:nvSpPr>
          <p:cNvPr id="10" name="Text 8"/>
          <p:cNvSpPr/>
          <p:nvPr/>
        </p:nvSpPr>
        <p:spPr>
          <a:xfrm>
            <a:off x="761695" y="3745440"/>
            <a:ext cx="1066739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— POWER RESETS (IGNITION-SENSE SIGNATURE)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1695" y="3976692"/>
            <a:ext cx="10667390" cy="983894"/>
          </a:xfrm>
          <a:prstGeom prst="rect">
            <a:avLst/>
          </a:prstGeom>
          <a:solidFill>
            <a:srgbClr val="FDF3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61695" y="3967639"/>
            <a:ext cx="51206" cy="983894"/>
          </a:xfrm>
          <a:prstGeom prst="rect">
            <a:avLst/>
          </a:prstGeom>
          <a:solidFill>
            <a:srgbClr val="B879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83894" y="4090992"/>
            <a:ext cx="102229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signature captured via hardened CCU logging on 4736-110: ignition-sense voltage drops to 0V while main input voltage stays stable; ignition reads 0 for ~90s, then the CCU hard-cuts.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occurrences captured, 16–18 June 2026.
Status: 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narrowed to the ignition-sense input, not the power supply. Investigation ongoing —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resolved.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1695" y="5182786"/>
            <a:ext cx="10667390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items raised in ÖBB's 10 March test protocol (client isolation on staff WLAN, switch-visibility during the incident) remain open pending design freeze and functionality testing completion.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1997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MULTI-TRACTION ROADMAP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1695" y="1841602"/>
            <a:ext cx="10667390" cy="1110996"/>
          </a:xfrm>
          <a:prstGeom prst="rect">
            <a:avLst/>
          </a:prstGeom>
          <a:solidFill>
            <a:srgbClr val="E9F5EE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761695" y="1841602"/>
            <a:ext cx="51206" cy="1110996"/>
          </a:xfrm>
          <a:prstGeom prst="rect">
            <a:avLst/>
          </a:prstGeom>
          <a:solidFill>
            <a:srgbClr val="1C7A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5606" y="1955902"/>
            <a:ext cx="104141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 — NOMAD + VDSRAIL + ÖBB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5606" y="2158898"/>
            <a:ext cx="1028700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June coupling test surfaced a perpetual ~2s RSTP topology-change storm on coupled 6+6 consists. Root cause: asymmetric coupler port-costs in Nomad's own v8 template. Fixed in v9 (symmetric cost 20000, max-age raised to 38, native-VLAN containment) —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this does not provide deterministic port blocking on the front coupler ports. 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1695" y="3079699"/>
            <a:ext cx="10667390" cy="1047902"/>
          </a:xfrm>
          <a:prstGeom prst="rect">
            <a:avLst/>
          </a:prstGeom>
          <a:solidFill>
            <a:srgbClr val="E9F5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1695" y="3079699"/>
            <a:ext cx="51206" cy="1047902"/>
          </a:xfrm>
          <a:prstGeom prst="rect">
            <a:avLst/>
          </a:prstGeom>
          <a:solidFill>
            <a:srgbClr val="1C7A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5606" y="3193999"/>
            <a:ext cx="104141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CCTV / ZFR DEGRADATION — Caused by ASYMMETRIC Routing – Disable one coupler port until Design Review is complete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5606" y="3396996"/>
            <a:ext cx="10287000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 June test isolated the variable: the v9 cost fix alone — no firewall change, no VLAN-5 change — stopped the churn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CCTV feed recovered immediately. This revises the earlier hypothesis: the degradation was driven by the RSTP storm flooding camera traffic, not by any Stadler firewall interaction.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Stadler dependency on this item.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1695" y="4267505"/>
            <a:ext cx="1066739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1695" y="4356202"/>
            <a:ext cx="106673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input: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traction (3×6, 54 switches) exceeds RSTP's node/diameter limits — requires an L3 / routed segmentation redesign if triple traction is required.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695" y="5016398"/>
            <a:ext cx="10667390" cy="476402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61695" y="5016398"/>
            <a:ext cx="51206" cy="47640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5606" y="5130698"/>
            <a:ext cx="1028700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out of contract. Awaiting IFQ for next steps.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917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  <a:spcAft>
                <a:spcPts val="400"/>
              </a:spcAft>
            </a:pPr>
            <a:r>
              <a:rPr lang="en-US" sz="3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change management process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1695" y="2746664"/>
            <a:ext cx="507949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delivery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1695" y="3000867"/>
            <a:ext cx="5079492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2000" y="3159973"/>
            <a:ext cx="5080000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2" indent="0"/>
            <a:r>
              <a:rPr lang="en-GB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design freeze for a very long time</a:t>
            </a:r>
            <a:endParaRPr lang="fr-FR" sz="1350" dirty="0">
              <a:solidFill>
                <a:srgbClr val="0A0A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2" indent="0"/>
            <a:r>
              <a:rPr lang="en-GB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to normalise to prepare service only</a:t>
            </a:r>
            <a:endParaRPr lang="fr-FR" sz="1350" dirty="0">
              <a:solidFill>
                <a:srgbClr val="0A0A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2" indent="0"/>
            <a:r>
              <a:rPr lang="en-GB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 have a release note mentioning V8 on switches</a:t>
            </a:r>
          </a:p>
          <a:p>
            <a:pPr marL="0" lvl="2" indent="0"/>
            <a:r>
              <a:rPr lang="en-GB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r>
              <a:rPr lang="en-GB" sz="1350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GB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deployed on-board</a:t>
            </a:r>
            <a:endParaRPr lang="fr-FR" sz="1350" dirty="0">
              <a:solidFill>
                <a:srgbClr val="0A0A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2" indent="0"/>
            <a:r>
              <a:rPr lang="en-GB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mentioned in RN, approved by ÖBB</a:t>
            </a:r>
            <a:endParaRPr lang="fr-FR" sz="1350" dirty="0">
              <a:solidFill>
                <a:srgbClr val="0A0A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49594" y="2746664"/>
            <a:ext cx="0" cy="1777594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730898" y="2746664"/>
            <a:ext cx="4699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30898" y="3000867"/>
            <a:ext cx="4699102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730898" y="3159973"/>
            <a:ext cx="469910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process — release notes, impact assessment, sign-off gates — is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defined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O&amp;M phase: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trigger, advance notification, and post-update verification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5606" y="4559198"/>
            <a:ext cx="1028700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BLOCKED FROM ACTIVATING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5606" y="4749394"/>
            <a:ext cx="10287000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cannot enter O&amp;M until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freeze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testing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(bench + prototype) are complete. 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164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GB" sz="2900" dirty="0">
                <a:latin typeface="Arial" panose="020B0604020202020204" pitchFamily="34" charset="0"/>
                <a:cs typeface="Arial" panose="020B0604020202020204" pitchFamily="34" charset="0"/>
              </a:rPr>
              <a:t>Remote software updates and notification process</a:t>
            </a:r>
            <a:endParaRPr lang="en-US" sz="2900" b="1" dirty="0">
              <a:solidFill>
                <a:srgbClr val="0A0A0A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GB" sz="3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Vehicle configuration transparency and SW-Version visibility 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761695" y="2451507"/>
            <a:ext cx="10478110" cy="266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status today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GB" dirty="0" err="1"/>
              <a:t>ll</a:t>
            </a:r>
            <a:r>
              <a:rPr lang="en-GB" dirty="0"/>
              <a:t> trains (4 &amp; 6 coaches) are updated after communication with ÖBB</a:t>
            </a:r>
            <a:endParaRPr lang="fr-FR" dirty="0"/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GB" dirty="0"/>
              <a:t>New trains are commissioned with this version</a:t>
            </a:r>
            <a:endParaRPr lang="fr-FR" dirty="0"/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GB" dirty="0"/>
              <a:t>Trains 4705 (3 trains) &amp; 4706 (3) update has started and will be completed as trains come online.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exposes, per train: 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configuration &amp; firmware version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port-level alerts (e.g. port-down)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configuration &amp; firmware version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8541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SCHEDULE, </a:t>
            </a:r>
            <a:r>
              <a:rPr lang="en-US" sz="3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QUALITY &amp; WARRANTY IMPACT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1695" y="1746504"/>
            <a:ext cx="10667390" cy="1409384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1695" y="1746504"/>
            <a:ext cx="51206" cy="1409384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83894" y="1860803"/>
            <a:ext cx="10222992" cy="120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/>
            <a:r>
              <a:rPr lang="en-GB" dirty="0"/>
              <a:t>No specific warranty topic</a:t>
            </a:r>
          </a:p>
          <a:p>
            <a:pPr lvl="1"/>
            <a:r>
              <a:rPr lang="en-GB" dirty="0"/>
              <a:t>Warranty for material starts when delivered</a:t>
            </a:r>
          </a:p>
          <a:p>
            <a:pPr lvl="1"/>
            <a:r>
              <a:rPr lang="en-GB" dirty="0"/>
              <a:t>O&amp;M contract then</a:t>
            </a:r>
            <a:endParaRPr lang="fr-FR" dirty="0"/>
          </a:p>
          <a:p>
            <a:pPr lvl="1"/>
            <a:r>
              <a:rPr lang="en-GB" dirty="0"/>
              <a:t>Upgrade can be done in usual O&amp;M process if needed</a:t>
            </a:r>
            <a:endParaRPr lang="fr-FR" dirty="0"/>
          </a:p>
        </p:txBody>
      </p:sp>
      <p:sp>
        <p:nvSpPr>
          <p:cNvPr id="19" name="Shape 17"/>
          <p:cNvSpPr/>
          <p:nvPr/>
        </p:nvSpPr>
        <p:spPr>
          <a:xfrm>
            <a:off x="689268" y="5537679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61695" y="5682925"/>
            <a:ext cx="106673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2617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3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next steps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746504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61695" y="2095805"/>
          <a:ext cx="10667391" cy="1942694"/>
        </p:xfrm>
        <a:graphic>
          <a:graphicData uri="http://schemas.openxmlformats.org/drawingml/2006/table">
            <a:tbl>
              <a:tblPr/>
              <a:tblGrid>
                <a:gridCol w="3416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Freeze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Functionality 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VO / Out of 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Nomad-Actionable Now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CCU stability — single 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Multi-traction 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879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&amp; change management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SW updates &amp; notification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config transparency / SW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1695" y="2387498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61695" y="4190695"/>
            <a:ext cx="106673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blocking dependency      </a:t>
            </a:r>
            <a:r>
              <a:rPr lang="en-US" sz="1000" dirty="0">
                <a:solidFill>
                  <a:srgbClr val="B87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commercial-process dependency      </a:t>
            </a:r>
            <a:r>
              <a:rPr lang="en-US" sz="1000" dirty="0">
                <a:solidFill>
                  <a:srgbClr val="1C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Nomad already delivering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1695" y="5016398"/>
            <a:ext cx="10667390" cy="825703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61695" y="5016398"/>
            <a:ext cx="51206" cy="825703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83894" y="5130698"/>
            <a:ext cx="10222992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freeze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testing 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from ÖBB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 needed to analyze </a:t>
            </a: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multi-traction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provided on current status for external components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6984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FE7C56-38A0-47C5-8145-483E4BE9E38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4565503-1c9c-4d2a-bfae-8772258d5f89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202412c0-1e7d-4ccc-99a7-7c8f0a21f86d}" enabled="1" method="Standard" siteId="{0d993ad3-fa73-421a-b129-1fe5590103f3}" removed="0"/>
  <clbl:label id="{b9bcfa14-08fd-4a8c-9923-58d488e187bf}" enabled="1" method="Standard" siteId="{e0db078b-c381-439d-825c-5c949b0a091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1078</Words>
  <Application>Microsoft Office PowerPoint</Application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DOSTO Neu — Project Status &amp; Interdependency Review</dc:title>
  <dc:subject>PptxGenJS Presentation</dc:subject>
  <dc:creator>Abbas Rizvi — Nomad</dc:creator>
  <cp:lastModifiedBy>Abbas Rizvi</cp:lastModifiedBy>
  <cp:revision>7</cp:revision>
  <dcterms:created xsi:type="dcterms:W3CDTF">2026-07-02T15:34:07Z</dcterms:created>
  <dcterms:modified xsi:type="dcterms:W3CDTF">2026-07-06T05:53:24Z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RESTRICTED</vt:lpwstr>
  </property>
</Properties>
</file>