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69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0"/>
            <a:ext cx="0" cy="6858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096305" y="0"/>
            <a:ext cx="0" cy="6858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1333195"/>
            <a:ext cx="12191695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4203" y="254203"/>
            <a:ext cx="215798" cy="192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1721694" y="254203"/>
            <a:ext cx="215798" cy="192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54203" y="6622999"/>
            <a:ext cx="215798" cy="192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4203" y="6432804"/>
            <a:ext cx="19202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" y="1841602"/>
            <a:ext cx="10477195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&amp;</a:t>
            </a:r>
            <a:endParaRPr lang="en-US" sz="6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INTERDEPENDENCY</a:t>
            </a:r>
            <a:endParaRPr lang="en-US" sz="6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6400" dirty="0"/>
          </a:p>
        </p:txBody>
      </p:sp>
      <p:sp>
        <p:nvSpPr>
          <p:cNvPr id="14" name="Shape 12"/>
          <p:cNvSpPr/>
          <p:nvPr/>
        </p:nvSpPr>
        <p:spPr>
          <a:xfrm>
            <a:off x="761695" y="4635094"/>
            <a:ext cx="101498" cy="101498"/>
          </a:xfrm>
          <a:prstGeom prst="ellipse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52805" y="4572000"/>
            <a:ext cx="7619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   /   ÖBB   /   Stadler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61695" y="6254496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1695" y="6349594"/>
            <a:ext cx="6349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RIZVI — NOMAD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40289" y="6330391"/>
            <a:ext cx="888797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540289" y="6330391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01.07.2026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TODAY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873606"/>
            <a:ext cx="95243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status, technical risks, and the process to close open items — together, on the record.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6305" y="2667305"/>
            <a:ext cx="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096305" y="2667305"/>
            <a:ext cx="0" cy="2540203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61695" y="2667305"/>
            <a:ext cx="4953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— PART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695" y="2984602"/>
            <a:ext cx="4953305" cy="190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Current project status</a:t>
            </a:r>
            <a:endParaRPr lang="en-US" sz="1700" dirty="0"/>
          </a:p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CCU stability — single traction</a:t>
            </a:r>
            <a:endParaRPr lang="en-US" sz="1700" dirty="0"/>
          </a:p>
          <a:p>
            <a:pPr marL="0" indent="0">
              <a:lnSpc>
                <a:spcPct val="17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Multi-traction roadmap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6695" y="2667305"/>
            <a:ext cx="4953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— PART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6695" y="2984602"/>
            <a:ext cx="4953305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Release &amp; change management process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Remote SW updates &amp; notification process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Vehicle config transparency / SW-version visibility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Schedule, quality &amp; warranty impact</a:t>
            </a:r>
            <a:endParaRPr lang="en-US" sz="1700" dirty="0"/>
          </a:p>
          <a:p>
            <a:pPr marL="0" indent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Agreement on next steps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</a:t>
            </a: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746504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 items, mapped against their real dependency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095805"/>
          <a:ext cx="10667391" cy="1942694"/>
        </p:xfrm>
        <a:graphic>
          <a:graphicData uri="http://schemas.openxmlformats.org/drawingml/2006/table">
            <a:tbl>
              <a:tblPr/>
              <a:tblGrid>
                <a:gridCol w="3416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Freeze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Functionality 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VO / Out of 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Nomad-Actionable Now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CCU stability — single 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Multi-traction 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879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&amp; change management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SW updates &amp; notification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3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config transparency / SW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DC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1695" y="2387498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61695" y="4190695"/>
            <a:ext cx="106673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blocking dependency      </a:t>
            </a:r>
            <a:r>
              <a:rPr lang="en-US" sz="1000" dirty="0">
                <a:solidFill>
                  <a:srgbClr val="B87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commercial-process dependency      </a:t>
            </a:r>
            <a:r>
              <a:rPr lang="en-US" sz="1000" dirty="0">
                <a:solidFill>
                  <a:srgbClr val="1C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Nomad already delivering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1695" y="5016398"/>
            <a:ext cx="10667390" cy="825703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61695" y="5016398"/>
            <a:ext cx="51206" cy="825703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983894" y="5130698"/>
            <a:ext cx="10222992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five items trace back to two things ÖBB control: </a:t>
            </a: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freeze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testing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Nomad's own Q2 2026 phase plan shows engineering time fully committed to tracked, dated work — and contains </a:t>
            </a: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line items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multi-traction remediation already delivered. That work was unplanned and unbudgeted.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STATUS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COMMITTED PLAN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746504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DostoNeu Phase Plan Q2 2026 — status as of 01 July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695" y="2095805"/>
            <a:ext cx="5333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NOMAD-OWNED — ACTIVE RIGHT 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1695" y="2324405"/>
            <a:ext cx="5333695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400300"/>
          <a:ext cx="5333696" cy="1958642"/>
        </p:xfrm>
        <a:graphic>
          <a:graphicData uri="http://schemas.openxmlformats.org/drawingml/2006/table">
            <a:tbl>
              <a:tblPr/>
              <a:tblGrid>
                <a:gridCol w="3556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 Rollout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KW19–24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Portal: fleet rollout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KW22–30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Portal: backend check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KW24–28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notes — sign-off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KW19–26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migration to MAR5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EMEAE-5395, at-risk KW25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v9 for fleet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TRIAG-8521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VDS Firmware 7.4.8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HWI-257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49594" y="2095805"/>
            <a:ext cx="0" cy="2349094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730898" y="2095805"/>
            <a:ext cx="4699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ÖBB / STADLER-OWNED — BLOCKING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30898" y="2324405"/>
            <a:ext cx="4699102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0898" y="2400300"/>
          <a:ext cx="4699101" cy="2227478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freeze (Application layer)  </a:t>
                      </a:r>
                      <a:r>
                        <a:rPr lang="en-US" sz="900" dirty="0">
                          <a:solidFill>
                            <a:srgbClr val="FF3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due 16 Jun — 15 days overdue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Overdue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ÖBB — PM-06 Functional Test Report 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ÖBB — PM-07 Ready-for-Service 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ÖBB — PM-08 Kapazitätsplan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blocks PM-12 fleet acceptance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Freigabe Phase 4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owner: Stadler — confirm portal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Nomad technical description — review  </a:t>
                      </a:r>
                      <a:r>
                        <a:rPr lang="en-US" sz="900" dirty="0">
                          <a:solidFill>
                            <a:srgbClr val="6B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 &amp; Stadler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879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Progress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61695" y="5333695"/>
            <a:ext cx="10667390" cy="584302"/>
          </a:xfrm>
          <a:prstGeom prst="rect">
            <a:avLst/>
          </a:prstGeom>
          <a:solidFill>
            <a:srgbClr val="FDF3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61695" y="5333695"/>
            <a:ext cx="51206" cy="584302"/>
          </a:xfrm>
          <a:prstGeom prst="rect">
            <a:avLst/>
          </a:prstGeom>
          <a:solidFill>
            <a:srgbClr val="B879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983894" y="5447995"/>
            <a:ext cx="1022299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this plan at all: </a:t>
            </a: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multi-traction / v9 remediation (RSTP fix, native-VLAN containment) — delivered in goodwill, fully unbudgeted, on top of the schedule above.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CCU STABILITY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SINGLE TRACTION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809598"/>
            <a:ext cx="1066739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— MODEM / SIM INSTABILITY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1695" y="2031797"/>
            <a:ext cx="10667390" cy="856793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61695" y="2031797"/>
            <a:ext cx="51206" cy="856793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83894" y="2146097"/>
            <a:ext cx="10222992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CPDL hardware fault on modem carrier blades — first two SIM slots fail to come up, reducing redundant dual-SIM operation to a single SIM.
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replacement.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trains completed to date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by SPL, 2 by Nomad); remaining fleet count and completion target </a:t>
            </a: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Abbas: to confirm ]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1695" y="3111703"/>
            <a:ext cx="1066739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— POWER RESETS (IGNITION-SENSE SIGNATURE)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1695" y="3333902"/>
            <a:ext cx="10667390" cy="983894"/>
          </a:xfrm>
          <a:prstGeom prst="rect">
            <a:avLst/>
          </a:prstGeom>
          <a:solidFill>
            <a:srgbClr val="FDF3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61695" y="3333902"/>
            <a:ext cx="51206" cy="983894"/>
          </a:xfrm>
          <a:prstGeom prst="rect">
            <a:avLst/>
          </a:prstGeom>
          <a:solidFill>
            <a:srgbClr val="B879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83894" y="3448202"/>
            <a:ext cx="102229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signature captured via hardened CCU logging on 4736-110: ignition-sense voltage drops to 0V while main input voltage stays stable; ignition reads 0 for ~90s, then the CCU hard-cuts.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occurrences captured, 16–18 June 2026.
Status: 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narrowed to the ignition-sense input, not the power supply. Investigation ongoing —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resolved.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1695" y="4444898"/>
            <a:ext cx="1066739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1695" y="4539996"/>
            <a:ext cx="10667390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items raised in ÖBB's 10 March test protocol (client isolation on staff WLAN, switch-visibility during the incident) remain open pending design freeze and functionality testing completion — see slide 10.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MULTI-TRACTION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1695" y="1841602"/>
            <a:ext cx="10667390" cy="1110996"/>
          </a:xfrm>
          <a:prstGeom prst="rect">
            <a:avLst/>
          </a:prstGeom>
          <a:solidFill>
            <a:srgbClr val="E9F5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1695" y="1841602"/>
            <a:ext cx="51206" cy="1110996"/>
          </a:xfrm>
          <a:prstGeom prst="rect">
            <a:avLst/>
          </a:prstGeom>
          <a:solidFill>
            <a:srgbClr val="1C7A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5606" y="1955902"/>
            <a:ext cx="104141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FOUND AND FIXED, FAST — NOMAD-OWNED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5606" y="2158898"/>
            <a:ext cx="1028700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June coupling test surfaced a perpetual ~2s RSTP topology-change storm on coupled 6+6 consists. Root cause: asymmetric coupler port-costs in Nomad's own v8 template. Fixed in v9 (symmetric cost 20000, max-age raised to 38, native-VLAN containment) —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stable across all 2-train orientations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30 June re-test.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1695" y="3079699"/>
            <a:ext cx="10667390" cy="1047902"/>
          </a:xfrm>
          <a:prstGeom prst="rect">
            <a:avLst/>
          </a:prstGeom>
          <a:solidFill>
            <a:srgbClr val="E9F5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1695" y="3079699"/>
            <a:ext cx="51206" cy="1047902"/>
          </a:xfrm>
          <a:prstGeom prst="rect">
            <a:avLst/>
          </a:prstGeom>
          <a:solidFill>
            <a:srgbClr val="1C7A4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5606" y="3193999"/>
            <a:ext cx="10414102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CCTV / ZFR DEGRADATION — RESOLVED, SAME FIX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5606" y="3396996"/>
            <a:ext cx="10287000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 June test isolated the variable: the v9 cost fix alone — no firewall change, no VLAN-5 change — stopped the churn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CCTV feed recovered immediately. This revises the earlier hypothesis: the degradation was driven by the RSTP storm flooding camera traffic, not by any Stadler firewall interaction.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Stadler dependency on this item.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1695" y="4267505"/>
            <a:ext cx="1066739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1695" y="4356202"/>
            <a:ext cx="106673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input: </a:t>
            </a: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traction (3×6, 54 switches) exceeds RSTP's node/diameter limits — requires an L3 / routed segmentation redesign if triple traction is ever required. Flagged now, not a current defect.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695" y="5016398"/>
            <a:ext cx="10667390" cy="476402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61695" y="5016398"/>
            <a:ext cx="51206" cy="476402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5606" y="5130698"/>
            <a:ext cx="10287000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was delivered as goodwill, outside contracted scope, and is not on Nomad's committed phase plan — see </a:t>
            </a: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VO Status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slide 9.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&amp; UPDATE PROCESS </a:t>
            </a:r>
            <a:r>
              <a:rPr lang="en-US" sz="30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READY FOR O&amp;M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1695" y="1904695"/>
            <a:ext cx="507949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&amp; CHANGE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1695" y="2158898"/>
            <a:ext cx="5079492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1695" y="2318004"/>
            <a:ext cx="507949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process — release notes, impact assessment, sign-off gates — is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defined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O&amp;M phase.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49594" y="1904695"/>
            <a:ext cx="0" cy="1777594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730898" y="1904695"/>
            <a:ext cx="4699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UPDATES &amp; NOTIFICATION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30898" y="2158898"/>
            <a:ext cx="4699102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730898" y="2318004"/>
            <a:ext cx="469910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trigger, advance notification, and post-update verification are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defined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O&amp;M phase.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1695" y="4444898"/>
            <a:ext cx="10667390" cy="825703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65606" y="4559198"/>
            <a:ext cx="1028700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BLOCKED FROM ACTIVATING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5606" y="4749394"/>
            <a:ext cx="10287000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cannot enter O&amp;M until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freeze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testing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(bench + prototype) are complete. These are not missing Nomad capabilities — they are ready and waiting on the same two ÖBB/Stadler-owned gates. See slide 3.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1695" y="5397703"/>
            <a:ext cx="106673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phase plan itself has no target date for O&amp;M handover — the ÖBB-owned "decision on maintenance" line item has no stated deadline.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CONFIG TRANSPARENCY &amp; </a:t>
            </a:r>
            <a:r>
              <a:rPr lang="en-US" sz="29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VISIBILITY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61695" y="1809598"/>
            <a:ext cx="106673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ÖBB has requested Stadler be given access to view switch config &amp; firmware version. Two candidate routes — only one is safe to hand to a third party: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1695" y="2286000"/>
            <a:ext cx="5079492" cy="2730398"/>
          </a:xfrm>
          <a:prstGeom prst="rect">
            <a:avLst/>
          </a:prstGeom>
          <a:solidFill>
            <a:srgbClr val="F4F4F2"/>
          </a:solidFill>
          <a:ln w="254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52805" y="2476195"/>
            <a:ext cx="4699102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kern="0" spc="5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ENGINEERING PAGES — NOT VIABLE FOR STADLER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805" y="2889504"/>
            <a:ext cx="4699102" cy="190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carries a live </a:t>
            </a:r>
            <a:r>
              <a:rPr lang="en-US" sz="13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"obn update"</a:t>
            </a: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 that triggers a fleet-wide device update. This cannot be exposed to a third party — no way to grant read-only access without also granting that trigger.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49594" y="2286000"/>
            <a:ext cx="5079492" cy="2730398"/>
          </a:xfrm>
          <a:prstGeom prst="rect">
            <a:avLst/>
          </a:prstGeom>
          <a:solidFill>
            <a:srgbClr val="E9F5EE"/>
          </a:solidFill>
          <a:ln w="25400">
            <a:solidFill>
              <a:srgbClr val="1C7A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40703" y="2476195"/>
            <a:ext cx="4699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NMS — THE CORRECT ROUTE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40703" y="2793492"/>
            <a:ext cx="4699102" cy="190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exposes, per train: exact switch config &amp; firmware version, and real-time port-level alerts (e.g. port-down). Read-only, no destructive control surface. Live today.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1695" y="5238598"/>
            <a:ext cx="106673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Stadler access to be provisioned via NMS, not Engineering Pages. If NMS is missing something Stadler specifically needs, please specify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VARIATION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61695" y="1746504"/>
            <a:ext cx="106673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 has already delivered significant work beyond Chapter 6 standard/extended scope, at no charge, in goodwill: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1695" y="2126894"/>
            <a:ext cx="2006194" cy="952805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61695" y="2126894"/>
            <a:ext cx="38405" cy="95280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01598" y="2241194"/>
            <a:ext cx="17903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planning for 267 Stadler 3rd-party devices per train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95905" y="2126894"/>
            <a:ext cx="2006194" cy="952805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895905" y="2126894"/>
            <a:ext cx="38405" cy="95280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034894" y="2241194"/>
            <a:ext cx="17903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switch-config re-issues from incomplete Stadler design freeze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126894"/>
            <a:ext cx="2006194" cy="952805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029200" y="2126894"/>
            <a:ext cx="38405" cy="95280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169103" y="2241194"/>
            <a:ext cx="17903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Portal-Lite pages built post-CMS handover to ÖBB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62495" y="2126894"/>
            <a:ext cx="2006194" cy="952805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162495" y="2126894"/>
            <a:ext cx="38405" cy="95280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302398" y="2241194"/>
            <a:ext cx="17903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L2 diagnostics &amp; cabling fault register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95790" y="2126894"/>
            <a:ext cx="2006194" cy="952805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295790" y="2126894"/>
            <a:ext cx="38405" cy="952805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435694" y="2241194"/>
            <a:ext cx="17903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Multi-traction network-fabric remediation (v9/v10)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1695" y="3206801"/>
            <a:ext cx="106673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Formally communicated to ÖBB in writing — Chapter 6, ND-BID-OBB-036 Technical Description v0.3.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1695" y="3524098"/>
            <a:ext cx="10667390" cy="1110996"/>
          </a:xfrm>
          <a:prstGeom prst="rect">
            <a:avLst/>
          </a:prstGeom>
          <a:solidFill>
            <a:srgbClr val="FDF3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61695" y="3524098"/>
            <a:ext cx="51206" cy="1110996"/>
          </a:xfrm>
          <a:prstGeom prst="rect">
            <a:avLst/>
          </a:prstGeom>
          <a:solidFill>
            <a:srgbClr val="B879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65606" y="3638398"/>
            <a:ext cx="1028700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879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 HAS EVER BEEN QUOTED FOR THIS SPECIFIC WORK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5606" y="3822192"/>
            <a:ext cx="1028700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multi-traction network-fabric work (common network across coupled consists, shared switch-config management) is not just unordered — it has </a:t>
            </a: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appeared in any Nomad offer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including the lapsed Extended offer (EXT1, valid to 01.03.2024). Nomad's Q2 2026 phase plan confirms it: </a:t>
            </a: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line items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budgeted for this work — it was delivered entirely outside the committed, resourced schedule.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1695" y="4889297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61695" y="4984394"/>
            <a:ext cx="106673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no further work outside Chapter 6 standard scope — multi-traction or otherwise — proceeds without an approved RFQ/VO, using the provided template.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61695" y="5257800"/>
            <a:ext cx="106673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of the same pattern: ÖBB's own Application-layer design freeze — due 16 June 2026, still open as of 01 July 2026.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SCHEDULE, QUALITY &amp;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IMPACT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1695" y="1746504"/>
            <a:ext cx="10667390" cy="666598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1695" y="1746504"/>
            <a:ext cx="51206" cy="666598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83894" y="1860804"/>
            <a:ext cx="102229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are entering ÖBB commercial service without a completed design freeze, and without completed functionality testing on bench and prototype train.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1695" y="2571293"/>
            <a:ext cx="1066739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ITEM TO ADDRESS — DEVICES-NOT-FOUND REGISTER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1695" y="2812694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61694" y="2920593"/>
            <a:ext cx="10668305" cy="1618343"/>
          </a:xfrm>
          <a:prstGeom prst="rect">
            <a:avLst/>
          </a:prstGeom>
          <a:solidFill>
            <a:srgbClr val="F4F4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61695" y="2920594"/>
            <a:ext cx="51194" cy="1618342"/>
          </a:xfrm>
          <a:prstGeom prst="rect">
            <a:avLst/>
          </a:prstGeom>
          <a:solidFill>
            <a:srgbClr val="FF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0" y="3142793"/>
            <a:ext cx="16514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016898" y="3778301"/>
            <a:ext cx="1904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not-answering devices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live-verified, across 35 trains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(91 on 6-car · 59 on 4-car)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89797" y="3142793"/>
            <a:ext cx="0" cy="1015898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5606" y="3047695"/>
            <a:ext cx="76196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 v1.1  ·  01 JUL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5606" y="3238805"/>
            <a:ext cx="7683703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list of end-devices not answering on the onboard network — displays, intercoms (Sprechstelle), energy meters. On every listed port the </a:t>
            </a: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port is up, transmitting, with zero RX frames and zero CRC / carrier / error counters</a:t>
            </a: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L2 fabric is healthy and the device on the far side is absent or silent.
These are </a:t>
            </a: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Stadler-side device / fitment items</a:t>
            </a: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Nomad network faults — and they need a fleet-wide plan to clear.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8749" y="4772253"/>
            <a:ext cx="1066739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two offline 4-car trains (4734-101, 4734-190) pending live re-verification. Plus 12 cabling / hardware faults fleet-wide (7 still open).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9268" y="5537679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61695" y="5682925"/>
            <a:ext cx="106673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risk stems from process and schedule decisions — not Nomad equipment defects. Flagging now, before warranty exposure grows.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r>
              <a:rPr lang="en-US" sz="12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55203" y="381305"/>
            <a:ext cx="3174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1695" y="990295"/>
            <a:ext cx="10667390" cy="0"/>
          </a:xfrm>
          <a:prstGeom prst="line">
            <a:avLst/>
          </a:prstGeom>
          <a:noFill/>
          <a:ln w="381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1695" y="1206094"/>
            <a:ext cx="10667390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</a:t>
            </a:r>
            <a:r>
              <a:rPr lang="en-US" sz="33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1695" y="1904695"/>
            <a:ext cx="5206594" cy="1651406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40003" y="2057400"/>
            <a:ext cx="698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82496" y="2095805"/>
            <a:ext cx="40955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ÖBB: COMPLETE DESIGN FREEZE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82496" y="2603297"/>
            <a:ext cx="409559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design freeze — no further slip beyond the 16 June milestone.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2492" y="1904695"/>
            <a:ext cx="5206594" cy="1651406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698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143293" y="2095805"/>
            <a:ext cx="40955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ÖBB: SUBMIT RFQs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43293" y="2603297"/>
            <a:ext cx="409559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Chapter 6, using the provided template, for any additional/changed scope — before further requests are actioned.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1695" y="3733495"/>
            <a:ext cx="5206594" cy="1651406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40003" y="3886200"/>
            <a:ext cx="698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682496" y="3924605"/>
            <a:ext cx="40955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ÖBB: NO OUT-OF-SCOPE WORK WITHOUT A 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82496" y="4432097"/>
            <a:ext cx="409559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multi-traction and any other request outside Chapter 6 standard scope. Nomad to re-share the RFQ template.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2492" y="3733495"/>
            <a:ext cx="5206594" cy="1651406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0" y="3886200"/>
            <a:ext cx="698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143293" y="3924605"/>
            <a:ext cx="40955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JOINT: FORMAL CHANGE PROCESS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43293" y="4432097"/>
            <a:ext cx="4095598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release &amp; change management process. [ target date 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1695" y="6159398"/>
            <a:ext cx="10667390" cy="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61695" y="6254496"/>
            <a:ext cx="7619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DOSTO NEU — INTERDEPENDENCY 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858500" y="6235294"/>
            <a:ext cx="57150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9bcfa14-08fd-4a8c-9923-58d488e187bf}" enabled="1" method="Standard" siteId="{e0db078b-c381-439d-825c-5c949b0a091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1758</Words>
  <Application>Microsoft Office PowerPoint</Application>
  <PresentationFormat>Widescreen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DOSTO Neu — Project Status &amp; Interdependency Review</dc:title>
  <dc:subject>PptxGenJS Presentation</dc:subject>
  <dc:creator>Abbas Rizvi — Nomad</dc:creator>
  <cp:lastModifiedBy>Abbas Rizvi</cp:lastModifiedBy>
  <cp:revision>4</cp:revision>
  <dcterms:created xsi:type="dcterms:W3CDTF">2026-07-02T15:34:07Z</dcterms:created>
  <dcterms:modified xsi:type="dcterms:W3CDTF">2026-07-02T15:38:01Z</dcterms:modified>
</cp:coreProperties>
</file>